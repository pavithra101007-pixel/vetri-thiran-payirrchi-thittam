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AA96B-0963-4D92-959D-82FD7B943FFC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5682A-BED0-4065-8C94-010A448C61E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5682A-BED0-4065-8C94-010A448C61E1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  <a:endParaRPr lang="en-US"/>
          </a:p>
          <a:p>
            <a:pPr marL="228600" lvl="1" indent="-228600"/>
            <a:r>
              <a:rPr lang="en-US"/>
              <a:t>Second level</a:t>
            </a:r>
            <a:endParaRPr lang="en-US"/>
          </a:p>
          <a:p>
            <a:pPr marL="228600" lvl="2" indent="-228600"/>
            <a:r>
              <a:rPr lang="en-US"/>
              <a:t>Third level</a:t>
            </a:r>
            <a:endParaRPr lang="en-US"/>
          </a:p>
          <a:p>
            <a:pPr marL="228600" lvl="3" indent="-228600"/>
            <a:r>
              <a:rPr lang="en-US"/>
              <a:t>Fourth level</a:t>
            </a:r>
            <a:endParaRPr lang="en-US"/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465" indent="-164465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1755AD39-E318-4959-B784-6B4350241830}" type="datetimeFigureOut">
              <a:rPr lang="en-IN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4F7468CC-641A-4D9B-9FB1-B222AAC882D5}" type="slidenum">
              <a:rPr lang="en-IN" smtClean="0"/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4670" y="1367790"/>
            <a:ext cx="11123295" cy="3514090"/>
          </a:xfrm>
        </p:spPr>
        <p:txBody>
          <a:bodyPr>
            <a:normAutofit fontScale="90000"/>
          </a:bodyPr>
          <a:lstStyle/>
          <a:p>
            <a:r>
              <a:rPr lang="en-US" altLang="en-US" sz="6665" dirty="0">
                <a:latin typeface="Broadway" panose="04040905080B02020502" charset="0"/>
                <a:cs typeface="Broadway" panose="04040905080B02020502" charset="0"/>
              </a:rPr>
              <a:t>ComicCraft - AI Comic Story Creator using Gemini Models</a:t>
            </a:r>
            <a:br>
              <a:rPr lang="en-IN" altLang="en-US" sz="6665" dirty="0">
                <a:latin typeface="Broadway" panose="04040905080B02020502" charset="0"/>
                <a:cs typeface="Broadway" panose="04040905080B02020502" charset="0"/>
              </a:rPr>
            </a:br>
            <a:endParaRPr lang="en-IN" altLang="en-US" sz="6665" dirty="0">
              <a:latin typeface="Broadway" panose="04040905080B02020502" charset="0"/>
              <a:cs typeface="Broadway" panose="04040905080B02020502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354570" y="504825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Team Leader: pavithra G </a:t>
            </a:r>
            <a:endParaRPr lang="en-IN" altLang="en-US"/>
          </a:p>
          <a:p>
            <a:r>
              <a:rPr lang="en-IN" altLang="en-US"/>
              <a:t>Members: Thanjila I</a:t>
            </a:r>
            <a:endParaRPr lang="en-IN" altLang="en-US"/>
          </a:p>
          <a:p>
            <a:r>
              <a:rPr lang="en-IN" altLang="en-US"/>
              <a:t>             Siva sathya S</a:t>
            </a:r>
            <a:endParaRPr lang="en-IN" altLang="en-US"/>
          </a:p>
          <a:p>
            <a:r>
              <a:rPr lang="en-IN" altLang="en-US"/>
              <a:t>             Sowmithra P</a:t>
            </a:r>
            <a:endParaRPr lang="en-IN" altLang="en-US"/>
          </a:p>
          <a:p>
            <a:r>
              <a:rPr lang="en-IN" altLang="en-US"/>
              <a:t>             Thamizhesai P</a:t>
            </a:r>
            <a:endParaRPr lang="en-I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005" y="1053465"/>
            <a:ext cx="10761980" cy="4820285"/>
          </a:xfrm>
        </p:spPr>
        <p:txBody>
          <a:bodyPr>
            <a:normAutofit fontScale="90000"/>
          </a:bodyPr>
          <a:lstStyle/>
          <a:p>
            <a:pPr lvl="0"/>
            <a:r>
              <a:rPr lang="en-IN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</a:t>
            </a:r>
            <a:r>
              <a:rPr lang="en-IN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ComicCraft</a:t>
            </a:r>
            <a:br>
              <a:rPr lang="en-IN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4000" b="1" dirty="0" err="1">
                <a:latin typeface="Cambria Math" panose="02040503050406030204" charset="0"/>
                <a:cs typeface="Cambria Math" panose="02040503050406030204" charset="0"/>
              </a:rPr>
              <a:t>ComicCraft</a:t>
            </a:r>
            <a:r>
              <a:rPr lang="en-IN" sz="4000" dirty="0">
                <a:latin typeface="Cambria Math" panose="02040503050406030204" charset="0"/>
                <a:cs typeface="Cambria Math" panose="02040503050406030204" charset="0"/>
              </a:rPr>
              <a:t> is a web-based AI application for creating comics. </a:t>
            </a:r>
            <a:br>
              <a:rPr lang="en-IN" sz="4000" dirty="0">
                <a:latin typeface="Cambria Math" panose="02040503050406030204" charset="0"/>
                <a:cs typeface="Cambria Math" panose="02040503050406030204" charset="0"/>
              </a:rPr>
            </a:br>
            <a:r>
              <a:rPr lang="en-IN" sz="4000" dirty="0">
                <a:solidFill>
                  <a:schemeClr val="bg1"/>
                </a:solidFill>
                <a:latin typeface="Cambria Math" panose="02040503050406030204" charset="0"/>
                <a:cs typeface="Cambria Math" panose="02040503050406030204" charset="0"/>
              </a:rPr>
              <a:t> </a:t>
            </a:r>
            <a:r>
              <a:rPr lang="en-IN" sz="4000" dirty="0">
                <a:latin typeface="Cambria Math" panose="02040503050406030204" charset="0"/>
                <a:cs typeface="Cambria Math" panose="02040503050406030204" charset="0"/>
              </a:rPr>
              <a:t>Users enter a </a:t>
            </a:r>
            <a:r>
              <a:rPr lang="en-IN" sz="4000" b="1" dirty="0">
                <a:latin typeface="Cambria Math" panose="02040503050406030204" charset="0"/>
                <a:cs typeface="Cambria Math" panose="02040503050406030204" charset="0"/>
              </a:rPr>
              <a:t>story, character, setting, tone, and art style</a:t>
            </a:r>
            <a:r>
              <a:rPr lang="en-IN" sz="4000" dirty="0">
                <a:latin typeface="Cambria Math" panose="02040503050406030204" charset="0"/>
                <a:cs typeface="Cambria Math" panose="02040503050406030204" charset="0"/>
              </a:rPr>
              <a:t>. </a:t>
            </a:r>
            <a:br>
              <a:rPr lang="en-IN" sz="4000" dirty="0">
                <a:latin typeface="Cambria Math" panose="02040503050406030204" charset="0"/>
                <a:cs typeface="Cambria Math" panose="02040503050406030204" charset="0"/>
              </a:rPr>
            </a:br>
            <a:r>
              <a:rPr lang="en-IN" sz="4000" dirty="0">
                <a:solidFill>
                  <a:schemeClr val="bg1"/>
                </a:solidFill>
                <a:latin typeface="Cambria Math" panose="02040503050406030204" charset="0"/>
                <a:cs typeface="Cambria Math" panose="02040503050406030204" charset="0"/>
              </a:rPr>
              <a:t> </a:t>
            </a:r>
            <a:r>
              <a:rPr lang="en-IN" sz="4000" dirty="0">
                <a:latin typeface="Cambria Math" panose="02040503050406030204" charset="0"/>
                <a:cs typeface="Cambria Math" panose="02040503050406030204" charset="0"/>
              </a:rPr>
              <a:t>AI generates a </a:t>
            </a:r>
            <a:r>
              <a:rPr lang="en-IN" sz="4000" b="1" dirty="0">
                <a:latin typeface="Cambria Math" panose="02040503050406030204" charset="0"/>
                <a:cs typeface="Cambria Math" panose="02040503050406030204" charset="0"/>
              </a:rPr>
              <a:t>panel-by-panel storyline</a:t>
            </a:r>
            <a:r>
              <a:rPr lang="en-IN" sz="4000" dirty="0">
                <a:latin typeface="Cambria Math" panose="02040503050406030204" charset="0"/>
                <a:cs typeface="Cambria Math" panose="02040503050406030204" charset="0"/>
              </a:rPr>
              <a:t>. </a:t>
            </a:r>
            <a:br>
              <a:rPr lang="en-IN" sz="4000" dirty="0">
                <a:latin typeface="Cambria Math" panose="02040503050406030204" charset="0"/>
                <a:cs typeface="Cambria Math" panose="02040503050406030204" charset="0"/>
              </a:rPr>
            </a:br>
            <a:r>
              <a:rPr lang="en-IN" sz="4000" dirty="0">
                <a:solidFill>
                  <a:schemeClr val="bg1"/>
                </a:solidFill>
                <a:latin typeface="Cambria Math" panose="02040503050406030204" charset="0"/>
                <a:cs typeface="Cambria Math" panose="02040503050406030204" charset="0"/>
              </a:rPr>
              <a:t> </a:t>
            </a:r>
            <a:r>
              <a:rPr lang="en-IN" sz="4000" dirty="0">
                <a:latin typeface="Cambria Math" panose="02040503050406030204" charset="0"/>
                <a:cs typeface="Cambria Math" panose="02040503050406030204" charset="0"/>
              </a:rPr>
              <a:t>It creates </a:t>
            </a:r>
            <a:r>
              <a:rPr lang="en-IN" sz="4000" b="1" dirty="0">
                <a:latin typeface="Cambria Math" panose="02040503050406030204" charset="0"/>
                <a:cs typeface="Cambria Math" panose="02040503050406030204" charset="0"/>
              </a:rPr>
              <a:t>matching comic illustrations</a:t>
            </a:r>
            <a:r>
              <a:rPr lang="en-IN" sz="4000" dirty="0">
                <a:latin typeface="Cambria Math" panose="02040503050406030204" charset="0"/>
                <a:cs typeface="Cambria Math" panose="02040503050406030204" charset="0"/>
              </a:rPr>
              <a:t>. </a:t>
            </a:r>
            <a:br>
              <a:rPr lang="en-IN" sz="4000" dirty="0">
                <a:latin typeface="Cambria Math" panose="02040503050406030204" charset="0"/>
                <a:cs typeface="Cambria Math" panose="02040503050406030204" charset="0"/>
              </a:rPr>
            </a:br>
            <a:r>
              <a:rPr lang="en-IN" sz="4000" dirty="0">
                <a:solidFill>
                  <a:schemeClr val="bg1"/>
                </a:solidFill>
                <a:latin typeface="Cambria Math" panose="02040503050406030204" charset="0"/>
                <a:cs typeface="Cambria Math" panose="02040503050406030204" charset="0"/>
              </a:rPr>
              <a:t> </a:t>
            </a:r>
            <a:r>
              <a:rPr lang="en-IN" sz="4000" dirty="0">
                <a:latin typeface="Cambria Math" panose="02040503050406030204" charset="0"/>
                <a:cs typeface="Cambria Math" panose="02040503050406030204" charset="0"/>
              </a:rPr>
              <a:t>Users can </a:t>
            </a:r>
            <a:r>
              <a:rPr lang="en-IN" sz="4000" b="1" dirty="0">
                <a:latin typeface="Cambria Math" panose="02040503050406030204" charset="0"/>
                <a:cs typeface="Cambria Math" panose="02040503050406030204" charset="0"/>
              </a:rPr>
              <a:t>preview the comic</a:t>
            </a:r>
            <a:r>
              <a:rPr lang="en-IN" sz="4000" dirty="0">
                <a:latin typeface="Cambria Math" panose="02040503050406030204" charset="0"/>
                <a:cs typeface="Cambria Math" panose="02040503050406030204" charset="0"/>
              </a:rPr>
              <a:t> on the website. </a:t>
            </a:r>
            <a:br>
              <a:rPr lang="en-IN" sz="4000" dirty="0">
                <a:latin typeface="Cambria Math" panose="02040503050406030204" charset="0"/>
                <a:cs typeface="Cambria Math" panose="02040503050406030204" charset="0"/>
              </a:rPr>
            </a:br>
            <a:r>
              <a:rPr lang="en-IN" sz="4000" dirty="0">
                <a:solidFill>
                  <a:schemeClr val="bg1"/>
                </a:solidFill>
                <a:latin typeface="Cambria Math" panose="02040503050406030204" charset="0"/>
                <a:cs typeface="Cambria Math" panose="02040503050406030204" charset="0"/>
              </a:rPr>
              <a:t> </a:t>
            </a:r>
            <a:r>
              <a:rPr lang="en-IN" sz="4000" dirty="0">
                <a:latin typeface="Cambria Math" panose="02040503050406030204" charset="0"/>
                <a:cs typeface="Cambria Math" panose="02040503050406030204" charset="0"/>
              </a:rPr>
              <a:t>The final comic can be </a:t>
            </a:r>
            <a:r>
              <a:rPr lang="en-IN" sz="4000" b="1" dirty="0">
                <a:latin typeface="Cambria Math" panose="02040503050406030204" charset="0"/>
                <a:cs typeface="Cambria Math" panose="02040503050406030204" charset="0"/>
              </a:rPr>
              <a:t>exported as a PDF</a:t>
            </a:r>
            <a:r>
              <a:rPr lang="en-IN" sz="4000" dirty="0">
                <a:latin typeface="Cambria Math" panose="02040503050406030204" charset="0"/>
                <a:cs typeface="Cambria Math" panose="02040503050406030204" charset="0"/>
              </a:rPr>
              <a:t>. </a:t>
            </a:r>
            <a:br>
              <a:rPr lang="en-IN" sz="4000" dirty="0">
                <a:latin typeface="Cambria Math" panose="02040503050406030204" charset="0"/>
                <a:cs typeface="Cambria Math" panose="02040503050406030204" charset="0"/>
              </a:rPr>
            </a:br>
            <a:r>
              <a:rPr lang="en-IN" sz="3200" dirty="0">
                <a:solidFill>
                  <a:schemeClr val="bg1"/>
                </a:solidFill>
                <a:latin typeface="Cambria Math" panose="02040503050406030204" charset="0"/>
                <a:cs typeface="Cambria Math" panose="02040503050406030204" charset="0"/>
              </a:rPr>
              <a:t> </a:t>
            </a:r>
            <a:r>
              <a:rPr lang="en-IN" sz="4000" b="1" dirty="0" err="1">
                <a:latin typeface="Cambria Math" panose="02040503050406030204" charset="0"/>
                <a:cs typeface="Cambria Math" panose="02040503050406030204" charset="0"/>
              </a:rPr>
              <a:t>ComicCraft</a:t>
            </a:r>
            <a:r>
              <a:rPr lang="en-IN" sz="4000" b="1" dirty="0">
                <a:latin typeface="Cambria Math" panose="02040503050406030204" charset="0"/>
                <a:cs typeface="Cambria Math" panose="02040503050406030204" charset="0"/>
              </a:rPr>
              <a:t> = A digital comic studio powered by AI.</a:t>
            </a:r>
            <a:r>
              <a:rPr lang="en-IN" sz="4000" dirty="0">
                <a:latin typeface="Cambria Math" panose="02040503050406030204" charset="0"/>
                <a:cs typeface="Cambria Math" panose="02040503050406030204" charset="0"/>
              </a:rPr>
              <a:t> </a:t>
            </a:r>
            <a:br>
              <a:rPr lang="en-IN" sz="4000" dirty="0">
                <a:latin typeface="Cambria Math" panose="02040503050406030204" charset="0"/>
                <a:cs typeface="Cambria Math" panose="02040503050406030204" charset="0"/>
              </a:rPr>
            </a:br>
            <a:endParaRPr lang="en-IN" sz="4000" dirty="0">
              <a:solidFill>
                <a:schemeClr val="bg1"/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890" y="514350"/>
            <a:ext cx="11158220" cy="4983480"/>
          </a:xfrm>
        </p:spPr>
        <p:txBody>
          <a:bodyPr>
            <a:normAutofit fontScale="90000"/>
          </a:bodyPr>
          <a:lstStyle/>
          <a:p>
            <a:pPr marL="0" indent="0">
              <a:buFont typeface="Wingdings" panose="05000000000000000000" charset="0"/>
            </a:pPr>
            <a:r>
              <a:rPr lang="en-IN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4000" dirty="0">
                <a:solidFill>
                  <a:schemeClr val="tx1"/>
                </a:solidFill>
                <a:latin typeface="Californian FB" panose="0207040306080B030204" charset="0"/>
                <a:cs typeface="Californian FB" panose="0207040306080B030204" charset="0"/>
              </a:rPr>
              <a:t>Main Objectives</a:t>
            </a:r>
            <a:br>
              <a:rPr lang="en-IN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4000" b="1" dirty="0">
                <a:latin typeface="Cambria Math" panose="02040503050406030204" charset="0"/>
                <a:cs typeface="Cambria Math" panose="02040503050406030204" charset="0"/>
              </a:rPr>
              <a:t>Generate personalized comic stories</a:t>
            </a:r>
            <a:r>
              <a:rPr lang="en-IN" sz="4000" dirty="0">
                <a:latin typeface="Cambria Math" panose="02040503050406030204" charset="0"/>
                <a:cs typeface="Cambria Math" panose="02040503050406030204" charset="0"/>
              </a:rPr>
              <a:t> from user prompts.</a:t>
            </a:r>
            <a:br>
              <a:rPr lang="en-IN" sz="4000" dirty="0">
                <a:latin typeface="Cambria Math" panose="02040503050406030204" charset="0"/>
                <a:cs typeface="Cambria Math" panose="02040503050406030204" charset="0"/>
              </a:rPr>
            </a:br>
            <a:r>
              <a:rPr lang="en-IN" sz="4000" b="1" dirty="0">
                <a:latin typeface="Cambria Math" panose="02040503050406030204" charset="0"/>
                <a:cs typeface="Cambria Math" panose="02040503050406030204" charset="0"/>
              </a:rPr>
              <a:t>Create panel-wise narration and dialogue</a:t>
            </a:r>
            <a:r>
              <a:rPr lang="en-IN" sz="4000" dirty="0">
                <a:latin typeface="Cambria Math" panose="02040503050406030204" charset="0"/>
                <a:cs typeface="Cambria Math" panose="02040503050406030204" charset="0"/>
              </a:rPr>
              <a:t> for each scene.</a:t>
            </a:r>
            <a:br>
              <a:rPr lang="en-IN" sz="4000" dirty="0">
                <a:latin typeface="Cambria Math" panose="02040503050406030204" charset="0"/>
                <a:cs typeface="Cambria Math" panose="02040503050406030204" charset="0"/>
              </a:rPr>
            </a:br>
            <a:r>
              <a:rPr lang="en-IN" sz="4000" b="1" dirty="0">
                <a:latin typeface="Cambria Math" panose="02040503050406030204" charset="0"/>
                <a:cs typeface="Cambria Math" panose="02040503050406030204" charset="0"/>
              </a:rPr>
              <a:t>Generate comic-style images</a:t>
            </a:r>
            <a:r>
              <a:rPr lang="en-IN" sz="4000" dirty="0">
                <a:latin typeface="Cambria Math" panose="02040503050406030204" charset="0"/>
                <a:cs typeface="Cambria Math" panose="02040503050406030204" charset="0"/>
              </a:rPr>
              <a:t> using text-to-image AI. </a:t>
            </a:r>
            <a:br>
              <a:rPr lang="en-IN" sz="4000" dirty="0">
                <a:latin typeface="Cambria Math" panose="02040503050406030204" charset="0"/>
                <a:cs typeface="Cambria Math" panose="02040503050406030204" charset="0"/>
              </a:rPr>
            </a:br>
            <a:r>
              <a:rPr lang="en-IN" sz="4000" b="1" dirty="0">
                <a:latin typeface="Cambria Math" panose="02040503050406030204" charset="0"/>
                <a:cs typeface="Cambria Math" panose="02040503050406030204" charset="0"/>
              </a:rPr>
              <a:t>Provide an interactive preview</a:t>
            </a:r>
            <a:r>
              <a:rPr lang="en-IN" sz="4000" dirty="0">
                <a:latin typeface="Cambria Math" panose="02040503050406030204" charset="0"/>
                <a:cs typeface="Cambria Math" panose="02040503050406030204" charset="0"/>
              </a:rPr>
              <a:t> of the generated comic</a:t>
            </a:r>
            <a:br>
              <a:rPr lang="en-IN" sz="4000" dirty="0">
                <a:latin typeface="Cambria Math" panose="02040503050406030204" charset="0"/>
                <a:cs typeface="Cambria Math" panose="02040503050406030204" charset="0"/>
              </a:rPr>
            </a:br>
            <a:r>
              <a:rPr lang="en-IN" sz="4000" b="1" dirty="0">
                <a:latin typeface="Cambria Math" panose="02040503050406030204" charset="0"/>
                <a:cs typeface="Cambria Math" panose="02040503050406030204" charset="0"/>
              </a:rPr>
              <a:t>Provide API endpoints</a:t>
            </a:r>
            <a:r>
              <a:rPr lang="en-IN" sz="4000" dirty="0">
                <a:latin typeface="Cambria Math" panose="02040503050406030204" charset="0"/>
                <a:cs typeface="Cambria Math" panose="02040503050406030204" charset="0"/>
              </a:rPr>
              <a:t> for easy integration and future extensions.</a:t>
            </a:r>
            <a:br>
              <a:rPr lang="en-IN" sz="4000" dirty="0">
                <a:latin typeface="Cambria Math" panose="02040503050406030204" charset="0"/>
                <a:cs typeface="Cambria Math" panose="02040503050406030204" charset="0"/>
              </a:rPr>
            </a:b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Customize characters, settings, tone, and art style.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charset="0"/>
                <a:cs typeface="Cambria Math" panose="02040503050406030204" charset="0"/>
              </a:rPr>
            </a:br>
            <a:endParaRPr lang="en-IN" sz="3600" dirty="0">
              <a:solidFill>
                <a:schemeClr val="bg1"/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6345" y="1057275"/>
            <a:ext cx="9894570" cy="4960620"/>
          </a:xfrm>
        </p:spPr>
        <p:txBody>
          <a:bodyPr>
            <a:normAutofit/>
          </a:bodyPr>
          <a:lstStyle/>
          <a:p>
            <a:pPr marL="0" indent="0">
              <a:buFont typeface="Wingdings" panose="05000000000000000000" charset="0"/>
            </a:pPr>
            <a:r>
              <a:rPr lang="en-IN" sz="3600" dirty="0">
                <a:solidFill>
                  <a:schemeClr val="tx1"/>
                </a:solidFill>
                <a:latin typeface="Berlin Sans FB Demi" panose="020E0802020502020306" charset="0"/>
                <a:cs typeface="Berlin Sans FB Demi" panose="020E0802020502020306" charset="0"/>
              </a:rPr>
              <a:t>    SYSTEM REQUIREMENTS</a:t>
            </a:r>
            <a:br>
              <a:rPr lang="en-IN" sz="3600" dirty="0">
                <a:solidFill>
                  <a:schemeClr val="tx1"/>
                </a:solidFill>
                <a:latin typeface="Berlin Sans FB Demi" panose="020E0802020502020306" charset="0"/>
                <a:cs typeface="Berlin Sans FB Demi" panose="020E0802020502020306" charset="0"/>
              </a:rPr>
            </a:br>
            <a:br>
              <a:rPr lang="en-I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Hardware &amp; software requirements</a:t>
            </a:r>
            <a:br>
              <a:rPr lang="en-IN" sz="3600" dirty="0">
                <a:latin typeface="Cambria Math" panose="02040503050406030204" charset="0"/>
                <a:cs typeface="Cambria Math" panose="02040503050406030204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charset="0"/>
                <a:cs typeface="Cambria Math" panose="02040503050406030204" charset="0"/>
              </a:rPr>
              <a:t> </a:t>
            </a: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Hardware: modern PC/laptop, internet connection, adequate RAM and storage</a:t>
            </a:r>
            <a:br>
              <a:rPr lang="en-IN" sz="3600" dirty="0">
                <a:latin typeface="Cambria Math" panose="02040503050406030204" charset="0"/>
                <a:cs typeface="Cambria Math" panose="02040503050406030204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charset="0"/>
                <a:cs typeface="Cambria Math" panose="02040503050406030204" charset="0"/>
              </a:rPr>
              <a:t> </a:t>
            </a: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Backend: Python environment with </a:t>
            </a:r>
            <a:r>
              <a:rPr lang="en-IN" sz="3600" dirty="0" err="1">
                <a:latin typeface="Cambria Math" panose="02040503050406030204" charset="0"/>
                <a:cs typeface="Cambria Math" panose="02040503050406030204" charset="0"/>
              </a:rPr>
              <a:t>FastAPI</a:t>
            </a:r>
            <a:br>
              <a:rPr lang="en-IN" sz="3600" dirty="0">
                <a:latin typeface="Cambria Math" panose="02040503050406030204" charset="0"/>
                <a:cs typeface="Cambria Math" panose="02040503050406030204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charset="0"/>
                <a:cs typeface="Cambria Math" panose="02040503050406030204" charset="0"/>
              </a:rPr>
              <a:t> </a:t>
            </a: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AI services/models: Gemini for text generation and Stable      Diffusion for images</a:t>
            </a:r>
            <a:br>
              <a:rPr lang="en-IN" sz="3600" dirty="0">
                <a:latin typeface="Cambria Math" panose="02040503050406030204" charset="0"/>
                <a:cs typeface="Cambria Math" panose="02040503050406030204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charset="0"/>
                <a:cs typeface="Cambria Math" panose="02040503050406030204" charset="0"/>
              </a:rPr>
              <a:t>  </a:t>
            </a: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Frontend: HTML/CSS/JavaScript-capable web browser. </a:t>
            </a:r>
            <a:endParaRPr lang="en-IN" sz="3600" dirty="0">
              <a:solidFill>
                <a:schemeClr val="bg1"/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65760" y="718185"/>
            <a:ext cx="10766425" cy="5457190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TECHNOLOGIES USED</a:t>
            </a:r>
            <a:endParaRPr lang="en-IN" sz="3200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 err="1">
                <a:latin typeface="Cambria Math" panose="02040503050406030204" charset="0"/>
                <a:cs typeface="Cambria Math" panose="02040503050406030204" charset="0"/>
              </a:rPr>
              <a:t>FastAPI</a:t>
            </a: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— REST API and backend web framework.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Google Gemini — storyline, dialogue and prompt generation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Stable Diffusion — comic illustration generation. Hugging Face Diffusers — image-generation pipeline.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HTML/CSS/JavaScript — interactive frontend.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solidFill>
                  <a:schemeClr val="bg1"/>
                </a:solidFill>
                <a:latin typeface="Cambria Math" panose="02040503050406030204" charset="0"/>
                <a:cs typeface="Cambria Math" panose="02040503050406030204" charset="0"/>
              </a:rPr>
              <a:t> </a:t>
            </a: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FPDF — PDF export.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Python — application logic and integration</a:t>
            </a:r>
            <a:endParaRPr lang="en-IN" sz="3600" dirty="0">
              <a:solidFill>
                <a:schemeClr val="bg1"/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71145" y="519748"/>
            <a:ext cx="12192000" cy="4643437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</a:rPr>
              <a:t>SYSTEM ARCHITECTURE</a:t>
            </a:r>
            <a:endParaRPr lang="en-IN" sz="3200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User fi HTML Form fi </a:t>
            </a:r>
            <a:r>
              <a:rPr lang="en-IN" sz="3600" dirty="0" err="1">
                <a:latin typeface="Cambria Math" panose="02040503050406030204" charset="0"/>
                <a:cs typeface="Cambria Math" panose="02040503050406030204" charset="0"/>
              </a:rPr>
              <a:t>FastAPI</a:t>
            </a: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Backend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</a:t>
            </a:r>
            <a:r>
              <a:rPr lang="en-IN" sz="3600" dirty="0" err="1">
                <a:latin typeface="Cambria Math" panose="02040503050406030204" charset="0"/>
                <a:cs typeface="Cambria Math" panose="02040503050406030204" charset="0"/>
              </a:rPr>
              <a:t>FastAPI</a:t>
            </a: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fi Gemini fi outline, story, dialogue and image prompts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Image prompts fi Stable Diffusion / Diffusers fi panel images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Story + images fi Layout Builder fi structured comic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Structured comic fi FPDF Exporter fi downloadable PDF</a:t>
            </a:r>
            <a:endParaRPr lang="en-IN" sz="3600" dirty="0">
              <a:solidFill>
                <a:schemeClr val="bg1"/>
              </a:solidFill>
              <a:latin typeface="Cambria Math" panose="02040503050406030204" charset="0"/>
              <a:cs typeface="Cambria Math" panose="02040503050406030204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endParaRPr lang="en-IN" sz="3200" dirty="0">
              <a:solidFill>
                <a:schemeClr val="bg1"/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47016" y="580707"/>
            <a:ext cx="12192000" cy="5000625"/>
          </a:xfrm>
        </p:spPr>
        <p:txBody>
          <a:bodyPr/>
          <a:lstStyle/>
          <a:p>
            <a:r>
              <a:rPr lang="en-IN" sz="3600" dirty="0">
                <a:solidFill>
                  <a:schemeClr val="bg1"/>
                </a:solidFill>
              </a:rPr>
              <a:t>WORKING </a:t>
            </a:r>
            <a:r>
              <a:rPr lang="en-IN" sz="3600" dirty="0" err="1">
                <a:solidFill>
                  <a:schemeClr val="bg1"/>
                </a:solidFill>
              </a:rPr>
              <a:t>METHODOLOGy</a:t>
            </a:r>
            <a:endParaRPr lang="en-IN" sz="3600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User enters prompt and customization details.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 </a:t>
            </a:r>
            <a:r>
              <a:rPr lang="en-IN" sz="3600" dirty="0" err="1">
                <a:latin typeface="Cambria Math" panose="02040503050406030204" charset="0"/>
                <a:cs typeface="Cambria Math" panose="02040503050406030204" charset="0"/>
              </a:rPr>
              <a:t>FastAPI</a:t>
            </a: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validates and receives the request.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 Gemini generates the comic outline and panel content.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 Image prompts are created for each panel.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 Stable Diffusion generates corresponding illustrations.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 Frontend displays the comic preview.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 Export modules assemble and generate the PDF</a:t>
            </a:r>
            <a:endParaRPr lang="en-IN" sz="3600" dirty="0">
              <a:solidFill>
                <a:schemeClr val="bg1"/>
              </a:solidFill>
              <a:latin typeface="Cambria Math" panose="02040503050406030204" charset="0"/>
              <a:cs typeface="Cambria Math" panose="02040503050406030204" charset="0"/>
            </a:endParaRPr>
          </a:p>
          <a:p>
            <a:endParaRPr lang="en-IN" sz="3600" dirty="0">
              <a:solidFill>
                <a:schemeClr val="bg1"/>
              </a:solidFill>
            </a:endParaRPr>
          </a:p>
          <a:p>
            <a:endParaRPr lang="en-IN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94640" y="404495"/>
            <a:ext cx="11779250" cy="6229350"/>
          </a:xfrm>
        </p:spPr>
        <p:txBody>
          <a:bodyPr/>
          <a:lstStyle/>
          <a:p>
            <a:r>
              <a:rPr lang="en-IN" sz="3600" dirty="0">
                <a:solidFill>
                  <a:schemeClr val="bg1"/>
                </a:solidFill>
              </a:rPr>
              <a:t>Major </a:t>
            </a:r>
            <a:r>
              <a:rPr lang="en-IN" sz="3600" dirty="0" err="1">
                <a:solidFill>
                  <a:schemeClr val="bg1"/>
                </a:solidFill>
              </a:rPr>
              <a:t>ComicCraft</a:t>
            </a:r>
            <a:r>
              <a:rPr lang="en-IN" sz="3600" dirty="0">
                <a:solidFill>
                  <a:schemeClr val="bg1"/>
                </a:solidFill>
              </a:rPr>
              <a:t> modules </a:t>
            </a:r>
            <a:endParaRPr lang="en-IN" sz="3600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Input &amp; Validation Module — captures user preferences.  Story Generation Module — creates outline, narration and dialogue.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Image Generation Module — creates panel illustrations. • Preview Module — displays generated panels.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Layout Builder — binds title, image and text.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PDF Exporter — creates the final downloadable PDF.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 API Layer — connects frontend and backend.</a:t>
            </a:r>
            <a:endParaRPr lang="en-IN" sz="3600" dirty="0">
              <a:solidFill>
                <a:schemeClr val="bg1"/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69303" y="532447"/>
            <a:ext cx="10428287" cy="5794375"/>
          </a:xfrm>
        </p:spPr>
        <p:txBody>
          <a:bodyPr/>
          <a:lstStyle/>
          <a:p>
            <a:r>
              <a:rPr lang="en-IN" sz="3600" dirty="0">
                <a:solidFill>
                  <a:schemeClr val="bg1"/>
                </a:solidFill>
              </a:rPr>
              <a:t>Brave fox in an enchanted forest</a:t>
            </a:r>
            <a:endParaRPr lang="en-IN" sz="3600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Prompt: “A brave fox exploring an enchanted forest.”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Character: Fox hero.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Setting: Enchanted forest.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Tone: Dramatic.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Art style: Anime.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Gemini creates the story and Stable Diffusion            creates matching panels.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Result: a personalized, visually immersive comic</a:t>
            </a:r>
            <a:endParaRPr lang="en-IN" sz="3600" dirty="0">
              <a:solidFill>
                <a:schemeClr val="bg1"/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681673" y="768985"/>
            <a:ext cx="10428287" cy="4965700"/>
          </a:xfrm>
        </p:spPr>
        <p:txBody>
          <a:bodyPr/>
          <a:lstStyle/>
          <a:p>
            <a:r>
              <a:rPr lang="en-IN" sz="3600" dirty="0">
                <a:solidFill>
                  <a:schemeClr val="bg1"/>
                </a:solidFill>
              </a:rPr>
              <a:t>Changing tone and art style</a:t>
            </a:r>
            <a:endParaRPr lang="en-IN" sz="3600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/>
              <a:t> </a:t>
            </a: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The user selects “funny” as the tone.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 The user selects “comic book” as the art style.  The application regenerates the outline, story and image prompts.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New images are generated according to the revised style.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This supports iteration until the result matches the user’s creative vision</a:t>
            </a:r>
            <a:endParaRPr lang="en-IN" sz="3600" dirty="0">
              <a:solidFill>
                <a:schemeClr val="bg1"/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882015" y="981075"/>
            <a:ext cx="10427970" cy="4125595"/>
          </a:xfrm>
        </p:spPr>
        <p:txBody>
          <a:bodyPr/>
          <a:lstStyle/>
          <a:p>
            <a:r>
              <a:rPr lang="en-IN" sz="3600" dirty="0" err="1">
                <a:solidFill>
                  <a:schemeClr val="bg1"/>
                </a:solidFill>
              </a:rPr>
              <a:t>FastAPI</a:t>
            </a:r>
            <a:r>
              <a:rPr lang="en-IN" sz="3600" dirty="0">
                <a:solidFill>
                  <a:schemeClr val="bg1"/>
                </a:solidFill>
              </a:rPr>
              <a:t> endpoint + Gemini story generation</a:t>
            </a:r>
            <a:endParaRPr lang="en-IN" sz="3600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4400" dirty="0"/>
              <a:t> </a:t>
            </a: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Backend endpoint receives the comic request.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Gemini is used to generate structured story content. </a:t>
            </a:r>
            <a:endParaRPr lang="en-IN" sz="3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IN" sz="3600" dirty="0">
                <a:latin typeface="Cambria Math" panose="02040503050406030204" charset="0"/>
                <a:cs typeface="Cambria Math" panose="02040503050406030204" charset="0"/>
              </a:rPr>
              <a:t> The generated response can then be passed to the image-generation stage</a:t>
            </a:r>
            <a:endParaRPr lang="en-IN" sz="3600" dirty="0">
              <a:solidFill>
                <a:schemeClr val="bg1"/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46760" y="508000"/>
            <a:ext cx="10427970" cy="5610860"/>
          </a:xfrm>
        </p:spPr>
        <p:txBody>
          <a:bodyPr/>
          <a:lstStyle/>
          <a:p>
            <a:r>
              <a:rPr lang="en-IN" sz="3600" dirty="0">
                <a:solidFill>
                  <a:schemeClr val="bg1"/>
                </a:solidFill>
              </a:rPr>
              <a:t>Sample Code</a:t>
            </a:r>
            <a:endParaRPr lang="en-IN" sz="3600" dirty="0">
              <a:solidFill>
                <a:schemeClr val="bg1"/>
              </a:solidFill>
            </a:endParaRPr>
          </a:p>
          <a:p>
            <a:r>
              <a:rPr lang="en-IN" sz="2400" dirty="0"/>
              <a:t> </a:t>
            </a: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from </a:t>
            </a:r>
            <a:r>
              <a:rPr lang="en-IN" sz="2400" dirty="0" err="1">
                <a:latin typeface="Cascadia Mono" panose="020B0609020000020004" charset="0"/>
                <a:cs typeface="Cascadia Mono" panose="020B0609020000020004" charset="0"/>
              </a:rPr>
              <a:t>fastapi</a:t>
            </a: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 import </a:t>
            </a:r>
            <a:r>
              <a:rPr lang="en-IN" sz="2400" dirty="0" err="1">
                <a:latin typeface="Cascadia Mono" panose="020B0609020000020004" charset="0"/>
                <a:cs typeface="Cascadia Mono" panose="020B0609020000020004" charset="0"/>
              </a:rPr>
              <a:t>FastAPI</a:t>
            </a:r>
            <a:br>
              <a:rPr lang="en-IN" sz="2400" dirty="0">
                <a:latin typeface="Cascadia Mono" panose="020B0609020000020004" charset="0"/>
                <a:cs typeface="Cascadia Mono" panose="020B0609020000020004" charset="0"/>
              </a:rPr>
            </a:b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from </a:t>
            </a:r>
            <a:r>
              <a:rPr lang="en-IN" sz="2400" dirty="0" err="1">
                <a:latin typeface="Cascadia Mono" panose="020B0609020000020004" charset="0"/>
                <a:cs typeface="Cascadia Mono" panose="020B0609020000020004" charset="0"/>
              </a:rPr>
              <a:t>pydantic</a:t>
            </a: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 import </a:t>
            </a:r>
            <a:r>
              <a:rPr lang="en-IN" sz="2400" dirty="0" err="1">
                <a:latin typeface="Cascadia Mono" panose="020B0609020000020004" charset="0"/>
                <a:cs typeface="Cascadia Mono" panose="020B0609020000020004" charset="0"/>
              </a:rPr>
              <a:t>BaseModel</a:t>
            </a:r>
            <a:br>
              <a:rPr lang="en-IN" sz="2400" dirty="0">
                <a:latin typeface="Cascadia Mono" panose="020B0609020000020004" charset="0"/>
                <a:cs typeface="Cascadia Mono" panose="020B0609020000020004" charset="0"/>
              </a:rPr>
            </a:br>
            <a:br>
              <a:rPr lang="en-IN" sz="2400" dirty="0">
                <a:latin typeface="Cascadia Mono" panose="020B0609020000020004" charset="0"/>
                <a:cs typeface="Cascadia Mono" panose="020B0609020000020004" charset="0"/>
              </a:rPr>
            </a:b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app = </a:t>
            </a:r>
            <a:r>
              <a:rPr lang="en-IN" sz="2400" dirty="0" err="1">
                <a:latin typeface="Cascadia Mono" panose="020B0609020000020004" charset="0"/>
                <a:cs typeface="Cascadia Mono" panose="020B0609020000020004" charset="0"/>
              </a:rPr>
              <a:t>FastAPI</a:t>
            </a: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()</a:t>
            </a:r>
            <a:br>
              <a:rPr lang="en-IN" sz="2400" dirty="0">
                <a:latin typeface="Cascadia Mono" panose="020B0609020000020004" charset="0"/>
                <a:cs typeface="Cascadia Mono" panose="020B0609020000020004" charset="0"/>
              </a:rPr>
            </a:br>
            <a:br>
              <a:rPr lang="en-IN" sz="2400" dirty="0">
                <a:latin typeface="Cascadia Mono" panose="020B0609020000020004" charset="0"/>
                <a:cs typeface="Cascadia Mono" panose="020B0609020000020004" charset="0"/>
              </a:rPr>
            </a:b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class </a:t>
            </a:r>
            <a:r>
              <a:rPr lang="en-IN" sz="2400" dirty="0" err="1">
                <a:latin typeface="Cascadia Mono" panose="020B0609020000020004" charset="0"/>
                <a:cs typeface="Cascadia Mono" panose="020B0609020000020004" charset="0"/>
              </a:rPr>
              <a:t>ComicRequest</a:t>
            </a: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(</a:t>
            </a:r>
            <a:r>
              <a:rPr lang="en-IN" sz="2400" dirty="0" err="1">
                <a:latin typeface="Cascadia Mono" panose="020B0609020000020004" charset="0"/>
                <a:cs typeface="Cascadia Mono" panose="020B0609020000020004" charset="0"/>
              </a:rPr>
              <a:t>BaseModel</a:t>
            </a: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):</a:t>
            </a:r>
            <a:br>
              <a:rPr lang="en-IN" sz="2400" dirty="0">
                <a:latin typeface="Cascadia Mono" panose="020B0609020000020004" charset="0"/>
                <a:cs typeface="Cascadia Mono" panose="020B0609020000020004" charset="0"/>
              </a:rPr>
            </a:b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prompt: str</a:t>
            </a:r>
            <a:br>
              <a:rPr lang="en-IN" sz="2400" dirty="0">
                <a:latin typeface="Cascadia Mono" panose="020B0609020000020004" charset="0"/>
                <a:cs typeface="Cascadia Mono" panose="020B0609020000020004" charset="0"/>
              </a:rPr>
            </a:b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character: str</a:t>
            </a:r>
            <a:br>
              <a:rPr lang="en-IN" sz="2400" dirty="0">
                <a:latin typeface="Cascadia Mono" panose="020B0609020000020004" charset="0"/>
                <a:cs typeface="Cascadia Mono" panose="020B0609020000020004" charset="0"/>
              </a:rPr>
            </a:b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setting: str</a:t>
            </a:r>
            <a:br>
              <a:rPr lang="en-IN" sz="2400" dirty="0">
                <a:latin typeface="Cascadia Mono" panose="020B0609020000020004" charset="0"/>
                <a:cs typeface="Cascadia Mono" panose="020B0609020000020004" charset="0"/>
              </a:rPr>
            </a:b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tone: str</a:t>
            </a:r>
            <a:br>
              <a:rPr lang="en-IN" sz="2400" dirty="0">
                <a:latin typeface="Cascadia Mono" panose="020B0609020000020004" charset="0"/>
                <a:cs typeface="Cascadia Mono" panose="020B0609020000020004" charset="0"/>
              </a:rPr>
            </a:br>
            <a:r>
              <a:rPr lang="en-IN" sz="2400" dirty="0" err="1">
                <a:latin typeface="Cascadia Mono" panose="020B0609020000020004" charset="0"/>
                <a:cs typeface="Cascadia Mono" panose="020B0609020000020004" charset="0"/>
              </a:rPr>
              <a:t>art_style</a:t>
            </a: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: str</a:t>
            </a:r>
            <a:br>
              <a:rPr lang="en-IN" sz="2400" dirty="0">
                <a:latin typeface="Cascadia Mono" panose="020B0609020000020004" charset="0"/>
                <a:cs typeface="Cascadia Mono" panose="020B0609020000020004" charset="0"/>
              </a:rPr>
            </a:br>
            <a:br>
              <a:rPr lang="en-IN" sz="2400" dirty="0">
                <a:latin typeface="Cascadia Mono" panose="020B0609020000020004" charset="0"/>
                <a:cs typeface="Cascadia Mono" panose="020B0609020000020004" charset="0"/>
              </a:rPr>
            </a:b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@app.post("/generate-comic")</a:t>
            </a:r>
            <a:br>
              <a:rPr lang="en-IN" sz="2400" dirty="0">
                <a:latin typeface="Cascadia Mono" panose="020B0609020000020004" charset="0"/>
                <a:cs typeface="Cascadia Mono" panose="020B0609020000020004" charset="0"/>
              </a:rPr>
            </a:b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def </a:t>
            </a:r>
            <a:r>
              <a:rPr lang="en-IN" sz="2400" dirty="0" err="1">
                <a:latin typeface="Cascadia Mono" panose="020B0609020000020004" charset="0"/>
                <a:cs typeface="Cascadia Mono" panose="020B0609020000020004" charset="0"/>
              </a:rPr>
              <a:t>generate_comic</a:t>
            </a: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(</a:t>
            </a:r>
            <a:r>
              <a:rPr lang="en-IN" sz="2400" dirty="0" err="1">
                <a:latin typeface="Cascadia Mono" panose="020B0609020000020004" charset="0"/>
                <a:cs typeface="Cascadia Mono" panose="020B0609020000020004" charset="0"/>
              </a:rPr>
              <a:t>req</a:t>
            </a: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: </a:t>
            </a:r>
            <a:r>
              <a:rPr lang="en-IN" sz="2400" dirty="0" err="1">
                <a:latin typeface="Cascadia Mono" panose="020B0609020000020004" charset="0"/>
                <a:cs typeface="Cascadia Mono" panose="020B0609020000020004" charset="0"/>
              </a:rPr>
              <a:t>ComicRequest</a:t>
            </a: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):</a:t>
            </a:r>
            <a:br>
              <a:rPr lang="en-IN" sz="2400" dirty="0">
                <a:latin typeface="Cascadia Mono" panose="020B0609020000020004" charset="0"/>
                <a:cs typeface="Cascadia Mono" panose="020B0609020000020004" charset="0"/>
              </a:rPr>
            </a:b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story = </a:t>
            </a:r>
            <a:r>
              <a:rPr lang="en-IN" sz="2400" dirty="0" err="1">
                <a:latin typeface="Cascadia Mono" panose="020B0609020000020004" charset="0"/>
                <a:cs typeface="Cascadia Mono" panose="020B0609020000020004" charset="0"/>
              </a:rPr>
              <a:t>generate_story_with_gemini</a:t>
            </a: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(</a:t>
            </a:r>
            <a:r>
              <a:rPr lang="en-IN" sz="2400" dirty="0" err="1">
                <a:latin typeface="Cascadia Mono" panose="020B0609020000020004" charset="0"/>
                <a:cs typeface="Cascadia Mono" panose="020B0609020000020004" charset="0"/>
              </a:rPr>
              <a:t>req</a:t>
            </a: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)</a:t>
            </a:r>
            <a:br>
              <a:rPr lang="en-IN" sz="2400" dirty="0">
                <a:latin typeface="Cascadia Mono" panose="020B0609020000020004" charset="0"/>
                <a:cs typeface="Cascadia Mono" panose="020B0609020000020004" charset="0"/>
              </a:rPr>
            </a:b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panels = </a:t>
            </a:r>
            <a:r>
              <a:rPr lang="en-IN" sz="2400" dirty="0" err="1">
                <a:latin typeface="Cascadia Mono" panose="020B0609020000020004" charset="0"/>
                <a:cs typeface="Cascadia Mono" panose="020B0609020000020004" charset="0"/>
              </a:rPr>
              <a:t>generate_images</a:t>
            </a: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(story, </a:t>
            </a:r>
            <a:r>
              <a:rPr lang="en-IN" sz="2400" dirty="0" err="1">
                <a:latin typeface="Cascadia Mono" panose="020B0609020000020004" charset="0"/>
                <a:cs typeface="Cascadia Mono" panose="020B0609020000020004" charset="0"/>
              </a:rPr>
              <a:t>req.art_style</a:t>
            </a: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)</a:t>
            </a:r>
            <a:br>
              <a:rPr lang="en-IN" sz="2400" dirty="0">
                <a:latin typeface="Cascadia Mono" panose="020B0609020000020004" charset="0"/>
                <a:cs typeface="Cascadia Mono" panose="020B0609020000020004" charset="0"/>
              </a:rPr>
            </a:br>
            <a:r>
              <a:rPr lang="en-IN" sz="2400" dirty="0">
                <a:latin typeface="Cascadia Mono" panose="020B0609020000020004" charset="0"/>
                <a:cs typeface="Cascadia Mono" panose="020B0609020000020004" charset="0"/>
              </a:rPr>
              <a:t>return {"story": story, "panels": panels</a:t>
            </a:r>
            <a:endParaRPr lang="en-IN" sz="2400" dirty="0">
              <a:latin typeface="Cascadia Mono" panose="020B0609020000020004" charset="0"/>
              <a:cs typeface="Cascadia Mono" panose="020B06090200000200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64223" y="734060"/>
            <a:ext cx="10428287" cy="5622925"/>
          </a:xfrm>
        </p:spPr>
        <p:txBody>
          <a:bodyPr/>
          <a:lstStyle/>
          <a:p>
            <a:r>
              <a:rPr lang="en-IN" sz="3600" dirty="0">
                <a:solidFill>
                  <a:schemeClr val="bg1"/>
                </a:solidFill>
              </a:rPr>
              <a:t>Advantages of </a:t>
            </a:r>
            <a:r>
              <a:rPr lang="en-IN" sz="3600" dirty="0" err="1">
                <a:solidFill>
                  <a:schemeClr val="bg1"/>
                </a:solidFill>
              </a:rPr>
              <a:t>ComicCraft</a:t>
            </a:r>
            <a:endParaRPr lang="en-IN" sz="3600" dirty="0">
              <a:solidFill>
                <a:schemeClr val="bg1"/>
              </a:solidFill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3200" b="1" dirty="0">
                <a:latin typeface="Cambria Math" panose="02040503050406030204" charset="0"/>
                <a:cs typeface="Cambria Math" panose="02040503050406030204" charset="0"/>
              </a:rPr>
              <a:t>Easy to use</a:t>
            </a: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 – Simple interface for creating comics. </a:t>
            </a:r>
            <a:endParaRPr lang="en-IN" sz="32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3200" b="1" dirty="0">
                <a:latin typeface="Cambria Math" panose="02040503050406030204" charset="0"/>
                <a:cs typeface="Cambria Math" panose="02040503050406030204" charset="0"/>
              </a:rPr>
              <a:t>Saves time</a:t>
            </a: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 – AI quickly generates stories and images. </a:t>
            </a:r>
            <a:endParaRPr lang="en-IN" sz="32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3200" b="1" dirty="0">
                <a:latin typeface="Cambria Math" panose="02040503050406030204" charset="0"/>
                <a:cs typeface="Cambria Math" panose="02040503050406030204" charset="0"/>
              </a:rPr>
              <a:t>Personalized content</a:t>
            </a: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 – Users can customize characters, settings, and styles. </a:t>
            </a:r>
            <a:endParaRPr lang="en-IN" sz="32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3200" b="1" dirty="0">
                <a:latin typeface="Cambria Math" panose="02040503050406030204" charset="0"/>
                <a:cs typeface="Cambria Math" panose="02040503050406030204" charset="0"/>
              </a:rPr>
              <a:t>Creative storytelling</a:t>
            </a: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 – Generates unique stories and dialogues. </a:t>
            </a:r>
            <a:endParaRPr lang="en-IN" sz="32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3200" b="1" dirty="0">
                <a:latin typeface="Cambria Math" panose="02040503050406030204" charset="0"/>
                <a:cs typeface="Cambria Math" panose="02040503050406030204" charset="0"/>
              </a:rPr>
              <a:t>AI-generated images</a:t>
            </a: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 – Creates matching comic-style illustrations. </a:t>
            </a:r>
            <a:endParaRPr lang="en-IN" sz="32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3200" b="1" dirty="0">
                <a:latin typeface="Cambria Math" panose="02040503050406030204" charset="0"/>
                <a:cs typeface="Cambria Math" panose="02040503050406030204" charset="0"/>
              </a:rPr>
              <a:t>Interactive preview</a:t>
            </a: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 – Users can review the comic before exporting.</a:t>
            </a:r>
            <a:endParaRPr lang="en-IN" sz="3200" dirty="0">
              <a:latin typeface="Cambria Math" panose="02040503050406030204" charset="0"/>
              <a:cs typeface="Cambria Math" panose="02040503050406030204" charset="0"/>
            </a:endParaRPr>
          </a:p>
          <a:p>
            <a:endParaRPr lang="en-IN" sz="3600" dirty="0">
              <a:solidFill>
                <a:schemeClr val="bg1"/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882015" y="617537"/>
            <a:ext cx="10428287" cy="5622925"/>
          </a:xfrm>
        </p:spPr>
        <p:txBody>
          <a:bodyPr/>
          <a:lstStyle/>
          <a:p>
            <a:r>
              <a:rPr lang="en-IN" sz="3600" b="1" dirty="0">
                <a:solidFill>
                  <a:schemeClr val="bg1"/>
                </a:solidFill>
              </a:rPr>
              <a:t>Statement – </a:t>
            </a:r>
            <a:r>
              <a:rPr lang="en-IN" sz="3600" b="1" dirty="0" err="1">
                <a:solidFill>
                  <a:schemeClr val="bg1"/>
                </a:solidFill>
              </a:rPr>
              <a:t>ComicCraft</a:t>
            </a:r>
            <a:endParaRPr lang="en-IN" sz="3600" b="1" dirty="0">
              <a:solidFill>
                <a:schemeClr val="bg1"/>
              </a:solidFill>
            </a:endParaRPr>
          </a:p>
          <a:p>
            <a:r>
              <a:rPr lang="en-IN" sz="3600" b="1" dirty="0">
                <a:solidFill>
                  <a:schemeClr val="bg1"/>
                </a:solidFill>
              </a:rPr>
              <a:t>Problem</a:t>
            </a:r>
            <a:endParaRPr lang="en-IN" sz="3600" b="1" dirty="0">
              <a:solidFill>
                <a:schemeClr val="bg1"/>
              </a:solidFill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2800" dirty="0">
                <a:latin typeface="Cambria Math" panose="02040503050406030204" charset="0"/>
                <a:cs typeface="Cambria Math" panose="02040503050406030204" charset="0"/>
              </a:rPr>
              <a:t>Creating comics manually requires </a:t>
            </a:r>
            <a:r>
              <a:rPr lang="en-IN" sz="2800" b="1" dirty="0">
                <a:latin typeface="Cambria Math" panose="02040503050406030204" charset="0"/>
                <a:cs typeface="Cambria Math" panose="02040503050406030204" charset="0"/>
              </a:rPr>
              <a:t>more time and effort</a:t>
            </a:r>
            <a:r>
              <a:rPr lang="en-IN" sz="2800" dirty="0">
                <a:latin typeface="Cambria Math" panose="02040503050406030204" charset="0"/>
                <a:cs typeface="Cambria Math" panose="02040503050406030204" charset="0"/>
              </a:rPr>
              <a:t>. </a:t>
            </a:r>
            <a:endParaRPr lang="en-IN" sz="28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2800" dirty="0">
                <a:latin typeface="Cambria Math" panose="02040503050406030204" charset="0"/>
                <a:cs typeface="Cambria Math" panose="02040503050406030204" charset="0"/>
              </a:rPr>
              <a:t>Users need </a:t>
            </a:r>
            <a:r>
              <a:rPr lang="en-IN" sz="2800" b="1" dirty="0">
                <a:latin typeface="Cambria Math" panose="02040503050406030204" charset="0"/>
                <a:cs typeface="Cambria Math" panose="02040503050406030204" charset="0"/>
              </a:rPr>
              <a:t>drawing and storytelling skills</a:t>
            </a:r>
            <a:r>
              <a:rPr lang="en-IN" sz="2800" dirty="0">
                <a:latin typeface="Cambria Math" panose="02040503050406030204" charset="0"/>
                <a:cs typeface="Cambria Math" panose="02040503050406030204" charset="0"/>
              </a:rPr>
              <a:t> to create complete comics. </a:t>
            </a:r>
            <a:endParaRPr lang="en-IN" sz="28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2800" dirty="0">
                <a:latin typeface="Cambria Math" panose="02040503050406030204" charset="0"/>
                <a:cs typeface="Cambria Math" panose="02040503050406030204" charset="0"/>
              </a:rPr>
              <a:t>Creating </a:t>
            </a:r>
            <a:r>
              <a:rPr lang="en-IN" sz="2800" b="1" dirty="0">
                <a:latin typeface="Cambria Math" panose="02040503050406030204" charset="0"/>
                <a:cs typeface="Cambria Math" panose="02040503050406030204" charset="0"/>
              </a:rPr>
              <a:t>storylines, dialogues, and illustrations separately</a:t>
            </a:r>
            <a:r>
              <a:rPr lang="en-IN" sz="2800" dirty="0">
                <a:latin typeface="Cambria Math" panose="02040503050406030204" charset="0"/>
                <a:cs typeface="Cambria Math" panose="02040503050406030204" charset="0"/>
              </a:rPr>
              <a:t> can be difficult. </a:t>
            </a:r>
            <a:endParaRPr lang="en-IN" sz="28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2800" dirty="0">
                <a:latin typeface="Cambria Math" panose="02040503050406030204" charset="0"/>
                <a:cs typeface="Cambria Math" panose="02040503050406030204" charset="0"/>
              </a:rPr>
              <a:t>Customizing characters, settings, and art styles manually is </a:t>
            </a:r>
            <a:r>
              <a:rPr lang="en-IN" sz="2800" b="1" dirty="0">
                <a:latin typeface="Cambria Math" panose="02040503050406030204" charset="0"/>
                <a:cs typeface="Cambria Math" panose="02040503050406030204" charset="0"/>
              </a:rPr>
              <a:t>time-consuming</a:t>
            </a:r>
            <a:r>
              <a:rPr lang="en-IN" sz="2800" dirty="0">
                <a:latin typeface="Cambria Math" panose="02040503050406030204" charset="0"/>
                <a:cs typeface="Cambria Math" panose="02040503050406030204" charset="0"/>
              </a:rPr>
              <a:t>. </a:t>
            </a:r>
            <a:endParaRPr lang="en-IN" sz="28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2800" dirty="0">
                <a:latin typeface="Cambria Math" panose="02040503050406030204" charset="0"/>
                <a:cs typeface="Cambria Math" panose="02040503050406030204" charset="0"/>
              </a:rPr>
              <a:t>There is a need for an </a:t>
            </a:r>
            <a:r>
              <a:rPr lang="en-IN" sz="2800" b="1" dirty="0">
                <a:latin typeface="Cambria Math" panose="02040503050406030204" charset="0"/>
                <a:cs typeface="Cambria Math" panose="02040503050406030204" charset="0"/>
              </a:rPr>
              <a:t>AI-based system</a:t>
            </a:r>
            <a:r>
              <a:rPr lang="en-IN" sz="2800" dirty="0">
                <a:latin typeface="Cambria Math" panose="02040503050406030204" charset="0"/>
                <a:cs typeface="Cambria Math" panose="02040503050406030204" charset="0"/>
              </a:rPr>
              <a:t> that can automate comic creation. </a:t>
            </a:r>
            <a:endParaRPr lang="en-IN" sz="28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2800" dirty="0" err="1">
                <a:latin typeface="Cambria Math" panose="02040503050406030204" charset="0"/>
                <a:cs typeface="Cambria Math" panose="02040503050406030204" charset="0"/>
              </a:rPr>
              <a:t>ComicCraft</a:t>
            </a:r>
            <a:r>
              <a:rPr lang="en-IN" sz="2800" dirty="0">
                <a:latin typeface="Cambria Math" panose="02040503050406030204" charset="0"/>
                <a:cs typeface="Cambria Math" panose="02040503050406030204" charset="0"/>
              </a:rPr>
              <a:t> aims to provide a </a:t>
            </a:r>
            <a:r>
              <a:rPr lang="en-IN" sz="2800" b="1" dirty="0">
                <a:latin typeface="Cambria Math" panose="02040503050406030204" charset="0"/>
                <a:cs typeface="Cambria Math" panose="02040503050406030204" charset="0"/>
              </a:rPr>
              <a:t>simple platform to generate, preview, and export personalized comics</a:t>
            </a:r>
            <a:r>
              <a:rPr lang="en-IN" sz="2800" dirty="0">
                <a:latin typeface="Cambria Math" panose="02040503050406030204" charset="0"/>
                <a:cs typeface="Cambria Math" panose="02040503050406030204" charset="0"/>
              </a:rPr>
              <a:t>.</a:t>
            </a:r>
            <a:endParaRPr lang="en-IN" sz="2800" dirty="0">
              <a:latin typeface="Cambria Math" panose="02040503050406030204" charset="0"/>
              <a:cs typeface="Cambria Math" panose="02040503050406030204" charset="0"/>
            </a:endParaRPr>
          </a:p>
          <a:p>
            <a:endParaRPr lang="en-IN" dirty="0">
              <a:latin typeface="Cambria Math" panose="02040503050406030204" charset="0"/>
              <a:cs typeface="Cambria Math" panose="020405030504060302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501650" y="680085"/>
            <a:ext cx="10764520" cy="3691890"/>
          </a:xfrm>
        </p:spPr>
        <p:txBody>
          <a:bodyPr/>
          <a:lstStyle/>
          <a:p>
            <a:r>
              <a:rPr lang="en-IN" sz="3600" dirty="0">
                <a:solidFill>
                  <a:schemeClr val="bg1"/>
                </a:solidFill>
              </a:rPr>
              <a:t>Disadvantages of </a:t>
            </a:r>
            <a:r>
              <a:rPr lang="en-IN" sz="3600" dirty="0" err="1">
                <a:solidFill>
                  <a:schemeClr val="bg1"/>
                </a:solidFill>
              </a:rPr>
              <a:t>ComicCraft</a:t>
            </a:r>
            <a:endParaRPr lang="en-IN" sz="3600" dirty="0">
              <a:solidFill>
                <a:schemeClr val="bg1"/>
              </a:solidFill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3200" b="1" dirty="0">
                <a:latin typeface="Cambria Math" panose="02040503050406030204" charset="0"/>
                <a:cs typeface="Cambria Math" panose="02040503050406030204" charset="0"/>
              </a:rPr>
              <a:t>AI-generated content may not always be accurate.</a:t>
            </a: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 </a:t>
            </a:r>
            <a:endParaRPr lang="en-IN" sz="32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3200" b="1" dirty="0">
                <a:latin typeface="Cambria Math" panose="02040503050406030204" charset="0"/>
                <a:cs typeface="Cambria Math" panose="02040503050406030204" charset="0"/>
              </a:rPr>
              <a:t>Image generation can take time</a:t>
            </a: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 depending on the system. </a:t>
            </a:r>
            <a:endParaRPr lang="en-IN" sz="32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3200" b="1" dirty="0">
                <a:latin typeface="Cambria Math" panose="02040503050406030204" charset="0"/>
                <a:cs typeface="Cambria Math" panose="02040503050406030204" charset="0"/>
              </a:rPr>
              <a:t>Requires an internet connection</a:t>
            </a: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 for AI services. </a:t>
            </a:r>
            <a:endParaRPr lang="en-IN" sz="32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3200" b="1" dirty="0">
                <a:latin typeface="Cambria Math" panose="02040503050406030204" charset="0"/>
                <a:cs typeface="Cambria Math" panose="02040503050406030204" charset="0"/>
              </a:rPr>
              <a:t>Generated images may not always match</a:t>
            </a: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 the user's exact expectations</a:t>
            </a:r>
            <a:endParaRPr lang="en-IN" sz="96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endParaRPr lang="en-IN" sz="3600" dirty="0">
              <a:solidFill>
                <a:schemeClr val="bg1"/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81305" y="755015"/>
            <a:ext cx="11791950" cy="5342255"/>
          </a:xfrm>
        </p:spPr>
        <p:txBody>
          <a:bodyPr/>
          <a:lstStyle/>
          <a:p>
            <a:r>
              <a:rPr lang="en-IN" sz="3600" dirty="0">
                <a:solidFill>
                  <a:schemeClr val="bg1"/>
                </a:solidFill>
              </a:rPr>
              <a:t>Conclusion</a:t>
            </a:r>
            <a:endParaRPr lang="en-IN" sz="36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It generates </a:t>
            </a:r>
            <a:r>
              <a:rPr lang="en-IN" sz="3200" b="1" dirty="0">
                <a:latin typeface="Cambria Math" panose="02040503050406030204" charset="0"/>
                <a:cs typeface="Cambria Math" panose="02040503050406030204" charset="0"/>
              </a:rPr>
              <a:t>stories, dialogues, and comic-style images</a:t>
            </a: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 automatically. </a:t>
            </a:r>
            <a:endParaRPr lang="en-IN" sz="32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3200" b="1" dirty="0" err="1">
                <a:latin typeface="Cambria Math" panose="02040503050406030204" charset="0"/>
                <a:cs typeface="Cambria Math" panose="02040503050406030204" charset="0"/>
              </a:rPr>
              <a:t>ComicCraft</a:t>
            </a:r>
            <a:r>
              <a:rPr lang="en-IN" sz="3200" b="1" dirty="0">
                <a:latin typeface="Cambria Math" panose="02040503050406030204" charset="0"/>
                <a:cs typeface="Cambria Math" panose="02040503050406030204" charset="0"/>
              </a:rPr>
              <a:t> makes comic creation simple and easy using AI.</a:t>
            </a: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 </a:t>
            </a:r>
            <a:endParaRPr lang="en-IN" sz="32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It generates </a:t>
            </a:r>
            <a:r>
              <a:rPr lang="en-IN" sz="3200" b="1" dirty="0">
                <a:latin typeface="Cambria Math" panose="02040503050406030204" charset="0"/>
                <a:cs typeface="Cambria Math" panose="02040503050406030204" charset="0"/>
              </a:rPr>
              <a:t>stories, dialogues, and comic-style images</a:t>
            </a: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 automatically. </a:t>
            </a:r>
            <a:endParaRPr lang="en-IN" sz="32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Overall, </a:t>
            </a:r>
            <a:r>
              <a:rPr lang="en-IN" sz="3200" dirty="0" err="1">
                <a:latin typeface="Cambria Math" panose="02040503050406030204" charset="0"/>
                <a:cs typeface="Cambria Math" panose="02040503050406030204" charset="0"/>
              </a:rPr>
              <a:t>ComicCraft</a:t>
            </a: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 </a:t>
            </a:r>
            <a:r>
              <a:rPr lang="en-IN" sz="3200" b="1" dirty="0">
                <a:latin typeface="Cambria Math" panose="02040503050406030204" charset="0"/>
                <a:cs typeface="Cambria Math" panose="02040503050406030204" charset="0"/>
              </a:rPr>
              <a:t>reduces the time and effort needed to create personalized comics</a:t>
            </a: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.</a:t>
            </a:r>
            <a:endParaRPr lang="en-IN" sz="3200" dirty="0">
              <a:latin typeface="Cambria Math" panose="02040503050406030204" charset="0"/>
              <a:cs typeface="Cambria Math" panose="02040503050406030204" charset="0"/>
            </a:endParaRPr>
          </a:p>
          <a:p>
            <a:pPr marL="457200" lvl="0" indent="-457200">
              <a:buFont typeface="Wingdings" panose="05000000000000000000" charset="0"/>
              <a:buChar char="Ø"/>
            </a:pP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Users can </a:t>
            </a:r>
            <a:r>
              <a:rPr lang="en-IN" sz="3200" b="1" dirty="0">
                <a:latin typeface="Cambria Math" panose="02040503050406030204" charset="0"/>
                <a:cs typeface="Cambria Math" panose="02040503050406030204" charset="0"/>
              </a:rPr>
              <a:t>customize characters, settings, tone, and art style</a:t>
            </a:r>
            <a:r>
              <a:rPr lang="en-IN" sz="3200" dirty="0">
                <a:latin typeface="Cambria Math" panose="02040503050406030204" charset="0"/>
                <a:cs typeface="Cambria Math" panose="02040503050406030204" charset="0"/>
              </a:rPr>
              <a:t>.</a:t>
            </a:r>
            <a:endParaRPr lang="en-IN" sz="3200" dirty="0">
              <a:latin typeface="Cambria Math" panose="02040503050406030204" charset="0"/>
              <a:cs typeface="Cambria Math" panose="02040503050406030204" charset="0"/>
            </a:endParaRPr>
          </a:p>
          <a:p>
            <a:pPr>
              <a:buFont typeface="Arial" panose="020B0604020202020204" pitchFamily="34" charset="0"/>
            </a:pPr>
            <a:endParaRPr lang="en-IN" dirty="0">
              <a:latin typeface="Cambria Math" panose="02040503050406030204" charset="0"/>
              <a:cs typeface="Cambria Math" panose="020405030504060302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7010" y="2720975"/>
            <a:ext cx="5689600" cy="1624330"/>
          </a:xfrm>
        </p:spPr>
        <p:txBody>
          <a:bodyPr>
            <a:normAutofit/>
          </a:bodyPr>
          <a:lstStyle/>
          <a:p>
            <a:r>
              <a:rPr lang="en-US" sz="6600" dirty="0">
                <a:latin typeface="Berlin Sans FB Demi" panose="020E0802020502020306" charset="0"/>
                <a:cs typeface="Berlin Sans FB Demi" panose="020E0802020502020306" charset="0"/>
              </a:rPr>
              <a:t>THANK YOU</a:t>
            </a:r>
            <a:endParaRPr lang="en-IN" sz="6600" dirty="0">
              <a:latin typeface="Berlin Sans FB Demi" panose="020E0802020502020306" charset="0"/>
              <a:cs typeface="Berlin Sans FB Demi" panose="020E080202050202030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0</TotalTime>
  <Words>5300</Words>
  <Application>WPS Presentation</Application>
  <PresentationFormat>Widescreen</PresentationFormat>
  <Paragraphs>107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SimSun</vt:lpstr>
      <vt:lpstr>Wingdings</vt:lpstr>
      <vt:lpstr>Broadway</vt:lpstr>
      <vt:lpstr>Cambria Math</vt:lpstr>
      <vt:lpstr>Wingdings</vt:lpstr>
      <vt:lpstr>Californian FB</vt:lpstr>
      <vt:lpstr>Berlin Sans FB Demi</vt:lpstr>
      <vt:lpstr>Cascadia Mono</vt:lpstr>
      <vt:lpstr>Neue Haas Grotesk Text Pro</vt:lpstr>
      <vt:lpstr>Segoe Print</vt:lpstr>
      <vt:lpstr>Microsoft YaHei</vt:lpstr>
      <vt:lpstr>Arial Unicode MS</vt:lpstr>
      <vt:lpstr>Calibri</vt:lpstr>
      <vt:lpstr>Film Burn</vt:lpstr>
      <vt:lpstr>ComicCraft - AI Comic Story Creator using Gemini Models </vt:lpstr>
      <vt:lpstr>What is ComicCraft   ComicCraft is a web-based AI application for creating comics.   Users enter a story, character, setting, tone, and art style.   AI generates a panel-by-panel storyline.   It creates matching comic illustrations.   Users can preview the comic on the website.   The final comic can be exported as a PDF.   ComicCraft = A digital comic studio powered by AI.  </vt:lpstr>
      <vt:lpstr>  Main Objectives  Generate personalized comic stories from user prompts. Create panel-wise narration and dialogue for each scene. Generate comic-style images using text-to-image AI.  Provide an interactive preview of the generated comic Provide API endpoints for easy integration and future extensions. Customize characters, settings, tone, and art style. </vt:lpstr>
      <vt:lpstr>    SYSTEM REQUIREMENTS   Hardware &amp; software requirements  Hardware: modern PC/laptop, internet connection, adequate RAM and storage  Backend: Python environment with FastAPI  AI services/models: Gemini for text generation and Stable      Diffusion for images   Frontend: HTML/CSS/JavaScript-capable web browser.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thanjila783@gmail.com</dc:creator>
  <cp:lastModifiedBy>Pavithra G</cp:lastModifiedBy>
  <cp:revision>5</cp:revision>
  <dcterms:created xsi:type="dcterms:W3CDTF">2026-09-30T11:50:00Z</dcterms:created>
  <dcterms:modified xsi:type="dcterms:W3CDTF">2026-10-01T13:45:42Z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D04C8AAA9D7C4437A7F8711ABAF57C7E_13</vt:lpwstr>
  </property>
</Properties>
</file>